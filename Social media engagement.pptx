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77" r:id="rId4"/>
    <p:sldId id="258" r:id="rId5"/>
    <p:sldId id="259" r:id="rId6"/>
    <p:sldId id="260" r:id="rId7"/>
    <p:sldId id="261" r:id="rId8"/>
    <p:sldId id="263" r:id="rId9"/>
    <p:sldId id="265" r:id="rId10"/>
    <p:sldId id="266" r:id="rId11"/>
    <p:sldId id="268" r:id="rId12"/>
    <p:sldId id="273" r:id="rId13"/>
    <p:sldId id="269" r:id="rId14"/>
    <p:sldId id="270" r:id="rId15"/>
    <p:sldId id="271" r:id="rId16"/>
    <p:sldId id="272" r:id="rId17"/>
    <p:sldId id="276" r:id="rId18"/>
    <p:sldId id="27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4660"/>
  </p:normalViewPr>
  <p:slideViewPr>
    <p:cSldViewPr snapToGrid="0">
      <p:cViewPr varScale="1">
        <p:scale>
          <a:sx n="67" d="100"/>
          <a:sy n="67" d="100"/>
        </p:scale>
        <p:origin x="68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3B70A-DF4B-4079-BEF3-B30138869C7C}"/>
              </a:ext>
            </a:extLst>
          </p:cNvPr>
          <p:cNvSpPr>
            <a:spLocks noGrp="1"/>
          </p:cNvSpPr>
          <p:nvPr>
            <p:ph type="ctrTitle"/>
          </p:nvPr>
        </p:nvSpPr>
        <p:spPr/>
        <p:txBody>
          <a:bodyPr/>
          <a:lstStyle/>
          <a:p>
            <a:pPr algn="l"/>
            <a:r>
              <a:rPr lang="en-US" sz="4800" b="1" dirty="0">
                <a:latin typeface="Times New Roman" panose="02020603050405020304" pitchFamily="18" charset="0"/>
                <a:cs typeface="Times New Roman" panose="02020603050405020304" pitchFamily="18" charset="0"/>
              </a:rPr>
              <a:t>Social Media Engagement Analysis </a:t>
            </a:r>
            <a:r>
              <a:rPr lang="en-US" sz="4800" b="1" dirty="0" err="1">
                <a:latin typeface="Times New Roman" panose="02020603050405020304" pitchFamily="18" charset="0"/>
                <a:cs typeface="Times New Roman" panose="02020603050405020304" pitchFamily="18" charset="0"/>
              </a:rPr>
              <a:t>Dashbord</a:t>
            </a:r>
            <a:endParaRPr lang="en-IN"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13A4F8B-AA1F-46EE-8F00-8C94BC3914A1}"/>
              </a:ext>
            </a:extLst>
          </p:cNvPr>
          <p:cNvSpPr>
            <a:spLocks noGrp="1"/>
          </p:cNvSpPr>
          <p:nvPr>
            <p:ph type="subTitle" idx="1"/>
          </p:nvPr>
        </p:nvSpPr>
        <p:spPr/>
        <p:txBody>
          <a:bodyPr>
            <a:normAutofit/>
          </a:bodyPr>
          <a:lstStyle/>
          <a:p>
            <a:r>
              <a:rPr lang="en-US" sz="2000" b="1" dirty="0">
                <a:solidFill>
                  <a:schemeClr val="tx1"/>
                </a:solidFill>
                <a:latin typeface="Times New Roman" panose="02020603050405020304" pitchFamily="18" charset="0"/>
                <a:cs typeface="Times New Roman" panose="02020603050405020304" pitchFamily="18" charset="0"/>
              </a:rPr>
              <a:t>PRESENTED BY</a:t>
            </a:r>
          </a:p>
          <a:p>
            <a:r>
              <a:rPr lang="en-US" sz="2000" b="1" dirty="0">
                <a:solidFill>
                  <a:schemeClr val="tx1"/>
                </a:solidFill>
                <a:latin typeface="Times New Roman" panose="02020603050405020304" pitchFamily="18" charset="0"/>
                <a:cs typeface="Times New Roman" panose="02020603050405020304" pitchFamily="18" charset="0"/>
              </a:rPr>
              <a:t>KRISHNAPRIYA</a:t>
            </a:r>
            <a:endParaRPr lang="en-IN" sz="2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6927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15FF9-1950-42FA-8B28-66FB289F64A6}"/>
              </a:ext>
            </a:extLst>
          </p:cNvPr>
          <p:cNvSpPr>
            <a:spLocks noGrp="1"/>
          </p:cNvSpPr>
          <p:nvPr>
            <p:ph type="title"/>
          </p:nvPr>
        </p:nvSpPr>
        <p:spPr>
          <a:xfrm>
            <a:off x="677334" y="609600"/>
            <a:ext cx="8339666" cy="711200"/>
          </a:xfrm>
        </p:spPr>
        <p:txBody>
          <a:bodyPr>
            <a:normAutofit/>
          </a:bodyPr>
          <a:lstStyle/>
          <a:p>
            <a:r>
              <a:rPr lang="en-US" sz="2800" b="1" dirty="0">
                <a:solidFill>
                  <a:schemeClr val="tx1">
                    <a:lumMod val="95000"/>
                    <a:lumOff val="5000"/>
                  </a:schemeClr>
                </a:solidFill>
              </a:rPr>
              <a:t>I</a:t>
            </a:r>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ntroduction</a:t>
            </a:r>
            <a:endParaRPr lang="en-IN" sz="28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CDBBD7-706D-46C3-B3E0-4BEF33552578}"/>
              </a:ext>
            </a:extLst>
          </p:cNvPr>
          <p:cNvSpPr>
            <a:spLocks noGrp="1"/>
          </p:cNvSpPr>
          <p:nvPr>
            <p:ph idx="1"/>
          </p:nvPr>
        </p:nvSpPr>
        <p:spPr>
          <a:xfrm>
            <a:off x="677334" y="1536701"/>
            <a:ext cx="8250766" cy="3733799"/>
          </a:xfrm>
        </p:spPr>
        <p:txBody>
          <a:bodyPr/>
          <a:lstStyle/>
          <a:p>
            <a:pPr lvl="1" algn="just">
              <a:buClr>
                <a:schemeClr val="tx1"/>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objective of this project is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social media engagement data and develop an interactive dashboard using Power BI. </a:t>
            </a:r>
          </a:p>
          <a:p>
            <a:pPr lvl="1" algn="just">
              <a:buClr>
                <a:schemeClr val="tx1"/>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dashboard aims to visualize key engagement metrics such as likes, comments, shares, impressions, and reach across different social media platforms. By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audience demographics, post types, campaign performance, and posting time, the project helps identify patterns and trends in audience interaction. </a:t>
            </a:r>
          </a:p>
          <a:p>
            <a:pPr lvl="1" algn="just">
              <a:buClr>
                <a:schemeClr val="tx1"/>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goal is to transform raw social media data into meaningful insights that can support better marketing decisions and improve overall engagement strategies.</a:t>
            </a:r>
          </a:p>
          <a:p>
            <a:pPr marL="457200" lvl="1" indent="0">
              <a:buNone/>
            </a:pPr>
            <a:endParaRPr lang="en-IN" dirty="0"/>
          </a:p>
        </p:txBody>
      </p:sp>
    </p:spTree>
    <p:extLst>
      <p:ext uri="{BB962C8B-B14F-4D97-AF65-F5344CB8AC3E}">
        <p14:creationId xmlns:p14="http://schemas.microsoft.com/office/powerpoint/2010/main" val="1545583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3C896-BFD6-450F-90D8-547A0E9A91A8}"/>
              </a:ext>
            </a:extLst>
          </p:cNvPr>
          <p:cNvSpPr>
            <a:spLocks noGrp="1"/>
          </p:cNvSpPr>
          <p:nvPr>
            <p:ph type="title"/>
          </p:nvPr>
        </p:nvSpPr>
        <p:spPr/>
        <p:txBody>
          <a:bodyPr>
            <a:normAutofit/>
          </a:bodyPr>
          <a:lstStyle/>
          <a:p>
            <a:r>
              <a:rPr lang="en-IN" sz="2800" b="1" dirty="0">
                <a:solidFill>
                  <a:schemeClr val="tx1">
                    <a:lumMod val="95000"/>
                    <a:lumOff val="5000"/>
                  </a:schemeClr>
                </a:solidFill>
                <a:latin typeface="Times New Roman" panose="02020603050405020304" pitchFamily="18" charset="0"/>
                <a:cs typeface="Times New Roman" panose="02020603050405020304" pitchFamily="18" charset="0"/>
              </a:rPr>
              <a:t>Problem Statement</a:t>
            </a:r>
            <a:endParaRPr lang="en-IN"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2642D86-3B05-4F1D-80D2-3F050C921E3C}"/>
              </a:ext>
            </a:extLst>
          </p:cNvPr>
          <p:cNvSpPr>
            <a:spLocks noGrp="1"/>
          </p:cNvSpPr>
          <p:nvPr>
            <p:ph idx="1"/>
          </p:nvPr>
        </p:nvSpPr>
        <p:spPr/>
        <p:txBody>
          <a:bodyPr/>
          <a:lstStyle/>
          <a:p>
            <a:pPr>
              <a:buClr>
                <a:schemeClr val="tx1"/>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Social media platforms generate large volumes of engagement data every day, including interactions such as likes, comments, shares, impressions, and reach. However, businesses and marketers often struggle to interpret this raw data and understand how their content performs across different platforms and audience groups.</a:t>
            </a:r>
          </a:p>
          <a:p>
            <a:pPr>
              <a:buClr>
                <a:schemeClr val="tx1"/>
              </a:buCl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Without proper visualization and analysis, it becomes difficult to identify the most effective content, campaigns, and influencers that drive higher engagement. Therefore, there is a need for a comprehensive dashboard that can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social media data and provide clear insights to improve marketing strategies.</a:t>
            </a:r>
          </a:p>
          <a:p>
            <a:endParaRPr lang="en-IN" dirty="0"/>
          </a:p>
        </p:txBody>
      </p:sp>
    </p:spTree>
    <p:extLst>
      <p:ext uri="{BB962C8B-B14F-4D97-AF65-F5344CB8AC3E}">
        <p14:creationId xmlns:p14="http://schemas.microsoft.com/office/powerpoint/2010/main" val="3351648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9F22B-D21B-4E69-8BC6-97DD2C7E3F41}"/>
              </a:ext>
            </a:extLst>
          </p:cNvPr>
          <p:cNvSpPr>
            <a:spLocks noGrp="1"/>
          </p:cNvSpPr>
          <p:nvPr>
            <p:ph type="title"/>
          </p:nvPr>
        </p:nvSpPr>
        <p:spPr/>
        <p:txBody>
          <a:bodyPr/>
          <a:lstStyle/>
          <a:p>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Business problem</a:t>
            </a:r>
            <a:br>
              <a:rPr lang="en-US" dirty="0"/>
            </a:br>
            <a:endParaRPr lang="en-IN" dirty="0"/>
          </a:p>
        </p:txBody>
      </p:sp>
      <p:sp>
        <p:nvSpPr>
          <p:cNvPr id="3" name="Content Placeholder 2">
            <a:extLst>
              <a:ext uri="{FF2B5EF4-FFF2-40B4-BE49-F238E27FC236}">
                <a16:creationId xmlns:a16="http://schemas.microsoft.com/office/drawing/2014/main" id="{CE382662-59C3-481E-94FC-08038F1A3E06}"/>
              </a:ext>
            </a:extLst>
          </p:cNvPr>
          <p:cNvSpPr>
            <a:spLocks noGrp="1"/>
          </p:cNvSpPr>
          <p:nvPr>
            <p:ph idx="1"/>
          </p:nvPr>
        </p:nvSpPr>
        <p:spPr>
          <a:xfrm>
            <a:off x="677334" y="1471613"/>
            <a:ext cx="8596668" cy="4569749"/>
          </a:xfrm>
        </p:spPr>
        <p:txBody>
          <a:bodyPr/>
          <a:lstStyle/>
          <a:p>
            <a:pPr lvl="0">
              <a:buClr>
                <a:schemeClr val="tx1"/>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Which social media platform generates the highest engagement in terms of likes, comments, and shares?</a:t>
            </a:r>
          </a:p>
          <a:p>
            <a:pPr lvl="0">
              <a:buClr>
                <a:schemeClr val="tx1"/>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How does engagement vary across different post types such as images, videos, and text posts?</a:t>
            </a:r>
          </a:p>
          <a:p>
            <a:pPr lvl="0">
              <a:buClr>
                <a:schemeClr val="tx1"/>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How does engagement change over time based on date, weekday type, and time periods?</a:t>
            </a:r>
          </a:p>
          <a:p>
            <a:pPr lvl="0">
              <a:buClr>
                <a:schemeClr val="tx1"/>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Which audience age group shows the highest interaction with social media posts?</a:t>
            </a:r>
          </a:p>
          <a:p>
            <a:pPr lvl="0">
              <a:buClr>
                <a:schemeClr val="tx1"/>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How is engagement distributed between different audience genders?</a:t>
            </a:r>
          </a:p>
          <a:p>
            <a:pPr lvl="0">
              <a:buClr>
                <a:schemeClr val="tx1"/>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How does sentiment (positive, neutral, negative) affect post engagement?</a:t>
            </a:r>
          </a:p>
          <a:p>
            <a:pPr lvl="0">
              <a:buClr>
                <a:schemeClr val="tx1"/>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Which age group uses which social media platform the most?</a:t>
            </a:r>
          </a:p>
          <a:p>
            <a:endParaRPr lang="en-IN" dirty="0"/>
          </a:p>
        </p:txBody>
      </p:sp>
    </p:spTree>
    <p:extLst>
      <p:ext uri="{BB962C8B-B14F-4D97-AF65-F5344CB8AC3E}">
        <p14:creationId xmlns:p14="http://schemas.microsoft.com/office/powerpoint/2010/main" val="952004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37CB3-71B3-48B5-BEF6-42F7091F646D}"/>
              </a:ext>
            </a:extLst>
          </p:cNvPr>
          <p:cNvSpPr>
            <a:spLocks noGrp="1"/>
          </p:cNvSpPr>
          <p:nvPr>
            <p:ph type="title"/>
          </p:nvPr>
        </p:nvSpPr>
        <p:spPr/>
        <p:txBody>
          <a:bodyPr>
            <a:normAutofit/>
          </a:bodyPr>
          <a:lstStyle/>
          <a:p>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Data overview</a:t>
            </a:r>
            <a:endParaRPr lang="en-IN" sz="28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A27390-9F21-48EB-940B-A426C4338490}"/>
              </a:ext>
            </a:extLst>
          </p:cNvPr>
          <p:cNvSpPr>
            <a:spLocks noGrp="1"/>
          </p:cNvSpPr>
          <p:nvPr>
            <p:ph idx="1"/>
          </p:nvPr>
        </p:nvSpPr>
        <p:spPr>
          <a:xfrm>
            <a:off x="552450" y="1343025"/>
            <a:ext cx="8721552" cy="4698337"/>
          </a:xfrm>
        </p:spPr>
        <p:txBody>
          <a:bodyPr/>
          <a:lstStyle/>
          <a:p>
            <a:pPr>
              <a:buClr>
                <a:schemeClr val="tx1"/>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DATA FIELDS:</a:t>
            </a:r>
          </a:p>
          <a:p>
            <a:pPr>
              <a:buClr>
                <a:schemeClr val="tx1"/>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Platform</a:t>
            </a:r>
          </a:p>
          <a:p>
            <a:pPr>
              <a:buClr>
                <a:schemeClr val="tx1"/>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Post ID </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a:t>
            </a:r>
            <a:r>
              <a:rPr lang="en-IN" dirty="0" err="1">
                <a:latin typeface="Times New Roman" panose="02020603050405020304" pitchFamily="18" charset="0"/>
                <a:cs typeface="Times New Roman" panose="02020603050405020304" pitchFamily="18" charset="0"/>
              </a:rPr>
              <a:t>ost</a:t>
            </a:r>
            <a:r>
              <a:rPr lang="en-IN" dirty="0">
                <a:latin typeface="Times New Roman" panose="02020603050405020304" pitchFamily="18" charset="0"/>
                <a:cs typeface="Times New Roman" panose="02020603050405020304" pitchFamily="18" charset="0"/>
              </a:rPr>
              <a:t> type </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t>
            </a:r>
            <a:r>
              <a:rPr lang="en-IN" dirty="0" err="1">
                <a:latin typeface="Times New Roman" panose="02020603050405020304" pitchFamily="18" charset="0"/>
                <a:cs typeface="Times New Roman" panose="02020603050405020304" pitchFamily="18" charset="0"/>
              </a:rPr>
              <a:t>ike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Comments,Shares</a:t>
            </a:r>
            <a:endParaRPr lang="en-IN" dirty="0">
              <a:latin typeface="Times New Roman" panose="02020603050405020304" pitchFamily="18" charset="0"/>
              <a:cs typeface="Times New Roman" panose="02020603050405020304" pitchFamily="18" charset="0"/>
            </a:endParaRP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a:t>
            </a:r>
            <a:r>
              <a:rPr lang="en-IN" dirty="0" err="1">
                <a:latin typeface="Times New Roman" panose="02020603050405020304" pitchFamily="18" charset="0"/>
                <a:cs typeface="Times New Roman" panose="02020603050405020304" pitchFamily="18" charset="0"/>
              </a:rPr>
              <a:t>udience</a:t>
            </a:r>
            <a:r>
              <a:rPr lang="en-IN" dirty="0">
                <a:latin typeface="Times New Roman" panose="02020603050405020304" pitchFamily="18" charset="0"/>
                <a:cs typeface="Times New Roman" panose="02020603050405020304" pitchFamily="18" charset="0"/>
              </a:rPr>
              <a:t> Age Group</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a:t>
            </a:r>
            <a:r>
              <a:rPr lang="en-IN" dirty="0" err="1">
                <a:latin typeface="Times New Roman" panose="02020603050405020304" pitchFamily="18" charset="0"/>
                <a:cs typeface="Times New Roman" panose="02020603050405020304" pitchFamily="18" charset="0"/>
              </a:rPr>
              <a:t>udience</a:t>
            </a:r>
            <a:r>
              <a:rPr lang="en-IN" dirty="0">
                <a:latin typeface="Times New Roman" panose="02020603050405020304" pitchFamily="18" charset="0"/>
                <a:cs typeface="Times New Roman" panose="02020603050405020304" pitchFamily="18" charset="0"/>
              </a:rPr>
              <a:t> Gender</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a:t>
            </a:r>
            <a:r>
              <a:rPr lang="en-IN" dirty="0" err="1">
                <a:latin typeface="Times New Roman" panose="02020603050405020304" pitchFamily="18" charset="0"/>
                <a:cs typeface="Times New Roman" panose="02020603050405020304" pitchFamily="18" charset="0"/>
              </a:rPr>
              <a:t>entiment</a:t>
            </a:r>
            <a:endParaRPr lang="en-IN" dirty="0">
              <a:latin typeface="Times New Roman" panose="02020603050405020304" pitchFamily="18" charset="0"/>
              <a:cs typeface="Times New Roman" panose="02020603050405020304" pitchFamily="18" charset="0"/>
            </a:endParaRP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a:t>
            </a:r>
            <a:r>
              <a:rPr lang="en-IN" dirty="0" err="1">
                <a:latin typeface="Times New Roman" panose="02020603050405020304" pitchFamily="18" charset="0"/>
                <a:cs typeface="Times New Roman" panose="02020603050405020304" pitchFamily="18" charset="0"/>
              </a:rPr>
              <a:t>otal</a:t>
            </a:r>
            <a:r>
              <a:rPr lang="en-IN" dirty="0">
                <a:latin typeface="Times New Roman" panose="02020603050405020304" pitchFamily="18" charset="0"/>
                <a:cs typeface="Times New Roman" panose="02020603050405020304" pitchFamily="18" charset="0"/>
              </a:rPr>
              <a:t> Engagement</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
            </a:r>
            <a:r>
              <a:rPr lang="en-IN" dirty="0">
                <a:latin typeface="Times New Roman" panose="02020603050405020304" pitchFamily="18" charset="0"/>
                <a:cs typeface="Times New Roman" panose="02020603050405020304" pitchFamily="18" charset="0"/>
              </a:rPr>
              <a:t>ate</a:t>
            </a:r>
          </a:p>
          <a:p>
            <a:endParaRPr lang="en-IN" dirty="0"/>
          </a:p>
          <a:p>
            <a:endParaRPr lang="en-IN" dirty="0"/>
          </a:p>
          <a:p>
            <a:endParaRPr lang="en-IN" dirty="0"/>
          </a:p>
        </p:txBody>
      </p:sp>
      <p:sp>
        <p:nvSpPr>
          <p:cNvPr id="4" name="Rectangle 1">
            <a:extLst>
              <a:ext uri="{FF2B5EF4-FFF2-40B4-BE49-F238E27FC236}">
                <a16:creationId xmlns:a16="http://schemas.microsoft.com/office/drawing/2014/main" id="{6612FFE4-C9BD-448B-8E87-C8D6E0D5F9D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F5326841-7B55-4296-8CA4-6720743CE64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6632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57DAB-09E8-4DCF-898F-C6AA749DB980}"/>
              </a:ext>
            </a:extLst>
          </p:cNvPr>
          <p:cNvSpPr>
            <a:spLocks noGrp="1"/>
          </p:cNvSpPr>
          <p:nvPr>
            <p:ph type="title"/>
          </p:nvPr>
        </p:nvSpPr>
        <p:spPr>
          <a:xfrm>
            <a:off x="677334" y="609600"/>
            <a:ext cx="7609416" cy="547688"/>
          </a:xfrm>
        </p:spPr>
        <p:txBody>
          <a:bodyPr>
            <a:normAutofit fontScale="90000"/>
          </a:bodyPr>
          <a:lstStyle/>
          <a:p>
            <a:r>
              <a:rPr lang="en-US" sz="3100" b="1" dirty="0">
                <a:solidFill>
                  <a:schemeClr val="tx1">
                    <a:lumMod val="95000"/>
                    <a:lumOff val="5000"/>
                  </a:schemeClr>
                </a:solidFill>
                <a:latin typeface="Times New Roman" panose="02020603050405020304" pitchFamily="18" charset="0"/>
                <a:cs typeface="Times New Roman" panose="02020603050405020304" pitchFamily="18" charset="0"/>
              </a:rPr>
              <a:t>Technology Used</a:t>
            </a:r>
            <a:br>
              <a:rPr lang="en-US" dirty="0"/>
            </a:br>
            <a:endParaRPr lang="en-IN" dirty="0"/>
          </a:p>
        </p:txBody>
      </p:sp>
      <p:sp>
        <p:nvSpPr>
          <p:cNvPr id="3" name="Content Placeholder 2">
            <a:extLst>
              <a:ext uri="{FF2B5EF4-FFF2-40B4-BE49-F238E27FC236}">
                <a16:creationId xmlns:a16="http://schemas.microsoft.com/office/drawing/2014/main" id="{1B41F43F-C3D2-4E55-BA4A-4894F77CDFF7}"/>
              </a:ext>
            </a:extLst>
          </p:cNvPr>
          <p:cNvSpPr>
            <a:spLocks noGrp="1"/>
          </p:cNvSpPr>
          <p:nvPr>
            <p:ph idx="1"/>
          </p:nvPr>
        </p:nvSpPr>
        <p:spPr>
          <a:xfrm>
            <a:off x="677334" y="1290638"/>
            <a:ext cx="8596668" cy="4455449"/>
          </a:xfrm>
        </p:spPr>
        <p:txBody>
          <a:bodyPr>
            <a:normAutofit fontScale="40000" lnSpcReduction="20000"/>
          </a:bodyPr>
          <a:lstStyle/>
          <a:p>
            <a:pPr marL="0" indent="0">
              <a:lnSpc>
                <a:spcPct val="150000"/>
              </a:lnSpc>
              <a:buNone/>
            </a:pPr>
            <a:r>
              <a:rPr lang="en-US" sz="2900" b="1" dirty="0">
                <a:latin typeface="Times New Roman" panose="02020603050405020304" pitchFamily="18" charset="0"/>
                <a:cs typeface="Times New Roman" panose="02020603050405020304" pitchFamily="18" charset="0"/>
              </a:rPr>
              <a:t>Data Source:</a:t>
            </a:r>
            <a:endParaRPr lang="en-US" sz="2900" dirty="0">
              <a:latin typeface="Times New Roman" panose="02020603050405020304" pitchFamily="18" charset="0"/>
              <a:cs typeface="Times New Roman" panose="02020603050405020304" pitchFamily="18" charset="0"/>
            </a:endParaRPr>
          </a:p>
          <a:p>
            <a:pPr marL="457200" lvl="1" indent="0">
              <a:lnSpc>
                <a:spcPct val="150000"/>
              </a:lnSpc>
              <a:buNone/>
            </a:pPr>
            <a:r>
              <a:rPr lang="en-US" sz="2900" dirty="0" err="1">
                <a:latin typeface="Times New Roman" panose="02020603050405020304" pitchFamily="18" charset="0"/>
                <a:cs typeface="Times New Roman" panose="02020603050405020304" pitchFamily="18" charset="0"/>
              </a:rPr>
              <a:t>Scial</a:t>
            </a:r>
            <a:r>
              <a:rPr lang="en-US" sz="2900" dirty="0">
                <a:latin typeface="Times New Roman" panose="02020603050405020304" pitchFamily="18" charset="0"/>
                <a:cs typeface="Times New Roman" panose="02020603050405020304" pitchFamily="18" charset="0"/>
              </a:rPr>
              <a:t> media Engagement Dataset (Excel file)</a:t>
            </a:r>
          </a:p>
          <a:p>
            <a:pPr marL="0" indent="0">
              <a:lnSpc>
                <a:spcPct val="150000"/>
              </a:lnSpc>
              <a:buNone/>
            </a:pPr>
            <a:r>
              <a:rPr lang="en-US" sz="2900" b="1" dirty="0">
                <a:latin typeface="Times New Roman" panose="02020603050405020304" pitchFamily="18" charset="0"/>
                <a:cs typeface="Times New Roman" panose="02020603050405020304" pitchFamily="18" charset="0"/>
              </a:rPr>
              <a:t>Data Preparation &amp; Transformation (ETL):</a:t>
            </a:r>
            <a:endParaRPr lang="en-US" sz="2900" dirty="0">
              <a:latin typeface="Times New Roman" panose="02020603050405020304" pitchFamily="18" charset="0"/>
              <a:cs typeface="Times New Roman" panose="02020603050405020304" pitchFamily="18" charset="0"/>
            </a:endParaRPr>
          </a:p>
          <a:p>
            <a:pPr lvl="1">
              <a:lnSpc>
                <a:spcPct val="150000"/>
              </a:lnSpc>
              <a:buClr>
                <a:schemeClr val="tx1"/>
              </a:buClr>
              <a:buFont typeface="Wingdings" panose="05000000000000000000" pitchFamily="2" charset="2"/>
              <a:buChar char="Ø"/>
            </a:pPr>
            <a:r>
              <a:rPr lang="en-US" sz="2900" b="1" dirty="0">
                <a:latin typeface="Times New Roman" panose="02020603050405020304" pitchFamily="18" charset="0"/>
                <a:cs typeface="Times New Roman" panose="02020603050405020304" pitchFamily="18" charset="0"/>
              </a:rPr>
              <a:t>Power Query:</a:t>
            </a:r>
            <a:r>
              <a:rPr lang="en-US" sz="2900" dirty="0">
                <a:latin typeface="Times New Roman" panose="02020603050405020304" pitchFamily="18" charset="0"/>
                <a:cs typeface="Times New Roman" panose="02020603050405020304" pitchFamily="18" charset="0"/>
              </a:rPr>
              <a:t> To clean, transform, and structure data</a:t>
            </a:r>
          </a:p>
          <a:p>
            <a:pPr lvl="1">
              <a:lnSpc>
                <a:spcPct val="150000"/>
              </a:lnSpc>
              <a:buClr>
                <a:schemeClr val="tx1"/>
              </a:buClr>
              <a:buFont typeface="Wingdings" panose="05000000000000000000" pitchFamily="2" charset="2"/>
              <a:buChar char="Ø"/>
            </a:pPr>
            <a:r>
              <a:rPr lang="en-US" sz="2900" b="1" dirty="0">
                <a:latin typeface="Times New Roman" panose="02020603050405020304" pitchFamily="18" charset="0"/>
                <a:cs typeface="Times New Roman" panose="02020603050405020304" pitchFamily="18" charset="0"/>
              </a:rPr>
              <a:t>Data Modeling:</a:t>
            </a:r>
            <a:r>
              <a:rPr lang="en-US" sz="2900" dirty="0">
                <a:latin typeface="Times New Roman" panose="02020603050405020304" pitchFamily="18" charset="0"/>
                <a:cs typeface="Times New Roman" panose="02020603050405020304" pitchFamily="18" charset="0"/>
              </a:rPr>
              <a:t> Creating tables like Platform ,Sentiment ,Date ,Audience ,.</a:t>
            </a:r>
          </a:p>
          <a:p>
            <a:pPr marL="0" indent="0">
              <a:lnSpc>
                <a:spcPct val="150000"/>
              </a:lnSpc>
              <a:buNone/>
            </a:pPr>
            <a:r>
              <a:rPr lang="en-US" sz="2900" b="1" dirty="0">
                <a:latin typeface="Times New Roman" panose="02020603050405020304" pitchFamily="18" charset="0"/>
                <a:cs typeface="Times New Roman" panose="02020603050405020304" pitchFamily="18" charset="0"/>
              </a:rPr>
              <a:t>Data Analysis &amp; Visualization:</a:t>
            </a:r>
            <a:endParaRPr lang="en-US" sz="2900" dirty="0">
              <a:latin typeface="Times New Roman" panose="02020603050405020304" pitchFamily="18" charset="0"/>
              <a:cs typeface="Times New Roman" panose="02020603050405020304" pitchFamily="18" charset="0"/>
            </a:endParaRPr>
          </a:p>
          <a:p>
            <a:pPr marL="457200" lvl="1" indent="0">
              <a:lnSpc>
                <a:spcPct val="150000"/>
              </a:lnSpc>
              <a:buNone/>
            </a:pPr>
            <a:r>
              <a:rPr lang="en-US" sz="2900" b="1" dirty="0">
                <a:latin typeface="Times New Roman" panose="02020603050405020304" pitchFamily="18" charset="0"/>
                <a:cs typeface="Times New Roman" panose="02020603050405020304" pitchFamily="18" charset="0"/>
              </a:rPr>
              <a:t>Power BI :</a:t>
            </a:r>
            <a:endParaRPr lang="en-US" sz="2900" dirty="0">
              <a:latin typeface="Times New Roman" panose="02020603050405020304" pitchFamily="18" charset="0"/>
              <a:cs typeface="Times New Roman" panose="02020603050405020304" pitchFamily="18" charset="0"/>
            </a:endParaRPr>
          </a:p>
          <a:p>
            <a:pPr marL="914400" lvl="2" indent="0">
              <a:lnSpc>
                <a:spcPct val="150000"/>
              </a:lnSpc>
              <a:buNone/>
            </a:pPr>
            <a:r>
              <a:rPr lang="en-US" sz="2900" dirty="0">
                <a:latin typeface="Times New Roman" panose="02020603050405020304" pitchFamily="18" charset="0"/>
                <a:cs typeface="Times New Roman" panose="02020603050405020304" pitchFamily="18" charset="0"/>
              </a:rPr>
              <a:t>Charts: Area chart, Bar chart, Column chart, Stacked area chart, Donut chart.</a:t>
            </a:r>
          </a:p>
          <a:p>
            <a:pPr marL="914400" lvl="2" indent="0">
              <a:lnSpc>
                <a:spcPct val="150000"/>
              </a:lnSpc>
              <a:buNone/>
            </a:pPr>
            <a:r>
              <a:rPr lang="en-US" sz="2900" dirty="0">
                <a:latin typeface="Times New Roman" panose="02020603050405020304" pitchFamily="18" charset="0"/>
                <a:cs typeface="Times New Roman" panose="02020603050405020304" pitchFamily="18" charset="0"/>
              </a:rPr>
              <a:t>Measures using DAX.</a:t>
            </a:r>
          </a:p>
          <a:p>
            <a:pPr marL="0" indent="0">
              <a:lnSpc>
                <a:spcPct val="150000"/>
              </a:lnSpc>
              <a:buNone/>
            </a:pPr>
            <a:r>
              <a:rPr lang="en-US" sz="2900" b="1" dirty="0">
                <a:latin typeface="Times New Roman" panose="02020603050405020304" pitchFamily="18" charset="0"/>
                <a:cs typeface="Times New Roman" panose="02020603050405020304" pitchFamily="18" charset="0"/>
              </a:rPr>
              <a:t>Data Insights &amp; Reporting:</a:t>
            </a:r>
            <a:endParaRPr lang="en-US" sz="2900" dirty="0">
              <a:latin typeface="Times New Roman" panose="02020603050405020304" pitchFamily="18" charset="0"/>
              <a:cs typeface="Times New Roman" panose="02020603050405020304" pitchFamily="18" charset="0"/>
            </a:endParaRPr>
          </a:p>
          <a:p>
            <a:pPr lvl="1">
              <a:lnSpc>
                <a:spcPct val="150000"/>
              </a:lnSpc>
              <a:buClrTx/>
              <a:buFont typeface="Wingdings" panose="05000000000000000000" pitchFamily="2" charset="2"/>
              <a:buChar char="Ø"/>
            </a:pPr>
            <a:r>
              <a:rPr lang="en-US" sz="2900" b="1" dirty="0">
                <a:latin typeface="Times New Roman" panose="02020603050405020304" pitchFamily="18" charset="0"/>
                <a:cs typeface="Times New Roman" panose="02020603050405020304" pitchFamily="18" charset="0"/>
              </a:rPr>
              <a:t>Power BI Dashboard:</a:t>
            </a:r>
            <a:r>
              <a:rPr lang="en-US" sz="2900" dirty="0">
                <a:latin typeface="Times New Roman" panose="02020603050405020304" pitchFamily="18" charset="0"/>
                <a:cs typeface="Times New Roman" panose="02020603050405020304" pitchFamily="18" charset="0"/>
              </a:rPr>
              <a:t> Interactive visualizations for executives</a:t>
            </a:r>
          </a:p>
          <a:p>
            <a:pPr lvl="1">
              <a:lnSpc>
                <a:spcPct val="150000"/>
              </a:lnSpc>
              <a:buClrTx/>
              <a:buFont typeface="Wingdings" panose="05000000000000000000" pitchFamily="2" charset="2"/>
              <a:buChar char="Ø"/>
            </a:pPr>
            <a:r>
              <a:rPr lang="en-US" sz="2900" b="1" dirty="0">
                <a:latin typeface="Times New Roman" panose="02020603050405020304" pitchFamily="18" charset="0"/>
                <a:cs typeface="Times New Roman" panose="02020603050405020304" pitchFamily="18" charset="0"/>
              </a:rPr>
              <a:t>Filters &amp; Slicers:</a:t>
            </a:r>
            <a:r>
              <a:rPr lang="en-US" sz="2900" dirty="0">
                <a:latin typeface="Times New Roman" panose="02020603050405020304" pitchFamily="18" charset="0"/>
                <a:cs typeface="Times New Roman" panose="02020603050405020304" pitchFamily="18" charset="0"/>
              </a:rPr>
              <a:t> To analyze social media  by Linked In ,Instagram ,Face Book ,Twitter</a:t>
            </a:r>
          </a:p>
          <a:p>
            <a:endParaRPr lang="en-IN" dirty="0"/>
          </a:p>
        </p:txBody>
      </p:sp>
    </p:spTree>
    <p:extLst>
      <p:ext uri="{BB962C8B-B14F-4D97-AF65-F5344CB8AC3E}">
        <p14:creationId xmlns:p14="http://schemas.microsoft.com/office/powerpoint/2010/main" val="3549799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A8225-B290-4724-921B-D6BBF925A79B}"/>
              </a:ext>
            </a:extLst>
          </p:cNvPr>
          <p:cNvSpPr>
            <a:spLocks noGrp="1"/>
          </p:cNvSpPr>
          <p:nvPr>
            <p:ph type="title"/>
          </p:nvPr>
        </p:nvSpPr>
        <p:spPr/>
        <p:txBody>
          <a:bodyPr>
            <a:normAutofit/>
          </a:bodyPr>
          <a:lstStyle/>
          <a:p>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Key </a:t>
            </a:r>
            <a:r>
              <a:rPr lang="en-US" sz="2800" b="1" dirty="0" err="1">
                <a:solidFill>
                  <a:schemeClr val="tx1">
                    <a:lumMod val="95000"/>
                    <a:lumOff val="5000"/>
                  </a:schemeClr>
                </a:solidFill>
                <a:latin typeface="Times New Roman" panose="02020603050405020304" pitchFamily="18" charset="0"/>
                <a:cs typeface="Times New Roman" panose="02020603050405020304" pitchFamily="18" charset="0"/>
              </a:rPr>
              <a:t>Matrics</a:t>
            </a:r>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 and KPI’s</a:t>
            </a:r>
            <a:endParaRPr lang="en-IN" sz="28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A00B2A0-1FA5-4C11-93B1-8636427009DB}"/>
              </a:ext>
            </a:extLst>
          </p:cNvPr>
          <p:cNvSpPr>
            <a:spLocks noChangeArrowheads="1"/>
          </p:cNvSpPr>
          <p:nvPr/>
        </p:nvSpPr>
        <p:spPr bwMode="auto">
          <a:xfrm>
            <a:off x="0" y="120878"/>
            <a:ext cx="21352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Content Placeholder 7">
            <a:extLst>
              <a:ext uri="{FF2B5EF4-FFF2-40B4-BE49-F238E27FC236}">
                <a16:creationId xmlns:a16="http://schemas.microsoft.com/office/drawing/2014/main" id="{362D3AB8-0885-4E57-B58F-15D5C53E3236}"/>
              </a:ext>
            </a:extLst>
          </p:cNvPr>
          <p:cNvSpPr>
            <a:spLocks noGrp="1"/>
          </p:cNvSpPr>
          <p:nvPr>
            <p:ph idx="1"/>
          </p:nvPr>
        </p:nvSpPr>
        <p:spPr>
          <a:xfrm>
            <a:off x="677334" y="1457324"/>
            <a:ext cx="8716789" cy="4584037"/>
          </a:xfrm>
        </p:spPr>
        <p:txBody>
          <a:bodyPr>
            <a:normAutofit fontScale="85000" lnSpcReduction="20000"/>
          </a:bodyPr>
          <a:lstStyle/>
          <a:p>
            <a:pPr marL="0" indent="0">
              <a:buClr>
                <a:schemeClr val="tx1"/>
              </a:buClr>
              <a:buNone/>
            </a:pPr>
            <a:r>
              <a:rPr lang="en-IN" sz="1900" dirty="0">
                <a:latin typeface="Times New Roman" panose="02020603050405020304" pitchFamily="18" charset="0"/>
                <a:cs typeface="Times New Roman" panose="02020603050405020304" pitchFamily="18" charset="0"/>
              </a:rPr>
              <a:t>Total Likes:</a:t>
            </a:r>
          </a:p>
          <a:p>
            <a:pPr marL="0" indent="0">
              <a:buClr>
                <a:schemeClr val="tx1"/>
              </a:buClr>
              <a:buNone/>
            </a:pPr>
            <a:r>
              <a:rPr lang="en-US" sz="1900" dirty="0">
                <a:latin typeface="Times New Roman" panose="02020603050405020304" pitchFamily="18" charset="0"/>
                <a:cs typeface="Times New Roman" panose="02020603050405020304" pitchFamily="18" charset="0"/>
              </a:rPr>
              <a:t>            Total number of likes received across all social media posts.</a:t>
            </a:r>
          </a:p>
          <a:p>
            <a:pPr marL="0" indent="0">
              <a:buClr>
                <a:schemeClr val="tx1"/>
              </a:buClr>
              <a:buNone/>
            </a:pPr>
            <a:r>
              <a:rPr lang="en-IN" sz="1900" dirty="0">
                <a:latin typeface="Times New Roman" panose="02020603050405020304" pitchFamily="18" charset="0"/>
                <a:cs typeface="Times New Roman" panose="02020603050405020304" pitchFamily="18" charset="0"/>
              </a:rPr>
              <a:t>Total Shares:</a:t>
            </a:r>
          </a:p>
          <a:p>
            <a:pPr marL="0" indent="0">
              <a:buClr>
                <a:schemeClr val="tx1"/>
              </a:buClr>
              <a:buNone/>
            </a:pPr>
            <a:r>
              <a:rPr lang="en-US" sz="1900" dirty="0">
                <a:latin typeface="Times New Roman" panose="02020603050405020304" pitchFamily="18" charset="0"/>
                <a:cs typeface="Times New Roman" panose="02020603050405020304" pitchFamily="18" charset="0"/>
              </a:rPr>
              <a:t>            Total number of times posts were shared by users.</a:t>
            </a:r>
          </a:p>
          <a:p>
            <a:pPr marL="0" indent="0">
              <a:buClr>
                <a:schemeClr val="tx1"/>
              </a:buClr>
              <a:buNone/>
            </a:pPr>
            <a:r>
              <a:rPr lang="en-US" sz="1900" dirty="0">
                <a:latin typeface="Times New Roman" panose="02020603050405020304" pitchFamily="18" charset="0"/>
                <a:cs typeface="Times New Roman" panose="02020603050405020304" pitchFamily="18" charset="0"/>
              </a:rPr>
              <a:t>Total Commend</a:t>
            </a:r>
          </a:p>
          <a:p>
            <a:pPr marL="0" indent="0">
              <a:buClr>
                <a:schemeClr val="tx1"/>
              </a:buClr>
              <a:buNone/>
            </a:pPr>
            <a:r>
              <a:rPr lang="en-US" sz="1900" dirty="0">
                <a:latin typeface="Times New Roman" panose="02020603050405020304" pitchFamily="18" charset="0"/>
                <a:cs typeface="Times New Roman" panose="02020603050405020304" pitchFamily="18" charset="0"/>
              </a:rPr>
              <a:t>            Total number of comments received on all posts</a:t>
            </a:r>
          </a:p>
          <a:p>
            <a:pPr marL="0" indent="0">
              <a:buClr>
                <a:schemeClr val="tx1"/>
              </a:buClr>
              <a:buNone/>
            </a:pPr>
            <a:r>
              <a:rPr lang="en-US" sz="1900" dirty="0">
                <a:latin typeface="Times New Roman" panose="02020603050405020304" pitchFamily="18" charset="0"/>
                <a:cs typeface="Times New Roman" panose="02020603050405020304" pitchFamily="18" charset="0"/>
              </a:rPr>
              <a:t>Average Engagement</a:t>
            </a:r>
          </a:p>
          <a:p>
            <a:pPr marL="0" indent="0">
              <a:buClr>
                <a:schemeClr val="tx1"/>
              </a:buClr>
              <a:buNone/>
            </a:pPr>
            <a:r>
              <a:rPr lang="en-US" sz="1900" dirty="0">
                <a:latin typeface="Times New Roman" panose="02020603050405020304" pitchFamily="18" charset="0"/>
                <a:cs typeface="Times New Roman" panose="02020603050405020304" pitchFamily="18" charset="0"/>
              </a:rPr>
              <a:t>             The average level of interaction (likes, comments, shares) compared to reach.</a:t>
            </a:r>
          </a:p>
          <a:p>
            <a:pPr marL="0" indent="0">
              <a:buClr>
                <a:schemeClr val="tx1"/>
              </a:buClr>
              <a:buNone/>
            </a:pPr>
            <a:r>
              <a:rPr lang="en-US" sz="1900" dirty="0">
                <a:latin typeface="Times New Roman" panose="02020603050405020304" pitchFamily="18" charset="0"/>
                <a:cs typeface="Times New Roman" panose="02020603050405020304" pitchFamily="18" charset="0"/>
              </a:rPr>
              <a:t>Total Post</a:t>
            </a:r>
          </a:p>
          <a:p>
            <a:pPr marL="0" indent="0">
              <a:buNone/>
            </a:pPr>
            <a:r>
              <a:rPr lang="en-US" sz="1900" dirty="0">
                <a:latin typeface="Times New Roman" panose="02020603050405020304" pitchFamily="18" charset="0"/>
                <a:cs typeface="Times New Roman" panose="02020603050405020304" pitchFamily="18" charset="0"/>
              </a:rPr>
              <a:t>              Total number of social media posts included in the dataset.</a:t>
            </a:r>
          </a:p>
          <a:p>
            <a:pPr marL="0" indent="0">
              <a:buNone/>
            </a:pPr>
            <a:endParaRPr lang="en-US" sz="1900" dirty="0">
              <a:latin typeface="Times New Roman" panose="02020603050405020304" pitchFamily="18" charset="0"/>
              <a:cs typeface="Times New Roman" panose="02020603050405020304" pitchFamily="18" charset="0"/>
            </a:endParaRPr>
          </a:p>
          <a:p>
            <a:pPr marL="0" indent="0">
              <a:buNone/>
            </a:pPr>
            <a:endParaRPr lang="en-IN" dirty="0"/>
          </a:p>
          <a:p>
            <a:pPr marL="0" indent="0">
              <a:buNone/>
            </a:pPr>
            <a:r>
              <a:rPr lang="en-US" dirty="0"/>
              <a:t> </a:t>
            </a:r>
            <a:endParaRPr lang="en-IN" dirty="0"/>
          </a:p>
          <a:p>
            <a:pPr marL="0" indent="0">
              <a:buNone/>
            </a:pPr>
            <a:r>
              <a:rPr lang="en-US" dirty="0"/>
              <a:t> </a:t>
            </a:r>
            <a:endParaRPr lang="en-IN" dirty="0"/>
          </a:p>
          <a:p>
            <a:endParaRPr lang="en-IN" dirty="0"/>
          </a:p>
        </p:txBody>
      </p:sp>
      <p:sp>
        <p:nvSpPr>
          <p:cNvPr id="9" name="Rectangle 4">
            <a:extLst>
              <a:ext uri="{FF2B5EF4-FFF2-40B4-BE49-F238E27FC236}">
                <a16:creationId xmlns:a16="http://schemas.microsoft.com/office/drawing/2014/main" id="{2B28147D-73D0-493E-A9B8-6BA35131C8BD}"/>
              </a:ext>
            </a:extLst>
          </p:cNvPr>
          <p:cNvSpPr>
            <a:spLocks noChangeArrowheads="1"/>
          </p:cNvSpPr>
          <p:nvPr/>
        </p:nvSpPr>
        <p:spPr bwMode="auto">
          <a:xfrm>
            <a:off x="0"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0" name="Rectangle 5">
            <a:extLst>
              <a:ext uri="{FF2B5EF4-FFF2-40B4-BE49-F238E27FC236}">
                <a16:creationId xmlns:a16="http://schemas.microsoft.com/office/drawing/2014/main" id="{3AD6C4E0-9EEB-40E9-BF68-6BD3F5D86700}"/>
              </a:ext>
            </a:extLst>
          </p:cNvPr>
          <p:cNvSpPr>
            <a:spLocks noChangeArrowheads="1"/>
          </p:cNvSpPr>
          <p:nvPr/>
        </p:nvSpPr>
        <p:spPr bwMode="auto">
          <a:xfrm>
            <a:off x="-71438"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3" name="Rectangle 6">
            <a:extLst>
              <a:ext uri="{FF2B5EF4-FFF2-40B4-BE49-F238E27FC236}">
                <a16:creationId xmlns:a16="http://schemas.microsoft.com/office/drawing/2014/main" id="{B4502547-FB22-490D-83AE-883A06DC43E4}"/>
              </a:ext>
            </a:extLst>
          </p:cNvPr>
          <p:cNvSpPr>
            <a:spLocks noChangeArrowheads="1"/>
          </p:cNvSpPr>
          <p:nvPr/>
        </p:nvSpPr>
        <p:spPr bwMode="auto">
          <a:xfrm>
            <a:off x="152400" y="1963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8" name="Rectangle 9">
            <a:extLst>
              <a:ext uri="{FF2B5EF4-FFF2-40B4-BE49-F238E27FC236}">
                <a16:creationId xmlns:a16="http://schemas.microsoft.com/office/drawing/2014/main" id="{53A1002E-B87B-448F-85B0-CCE3F9BA55EA}"/>
              </a:ext>
            </a:extLst>
          </p:cNvPr>
          <p:cNvSpPr>
            <a:spLocks noChangeArrowheads="1"/>
          </p:cNvSpPr>
          <p:nvPr/>
        </p:nvSpPr>
        <p:spPr bwMode="auto">
          <a:xfrm>
            <a:off x="0" y="120878"/>
            <a:ext cx="21352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 name="Picture 19">
            <a:extLst>
              <a:ext uri="{FF2B5EF4-FFF2-40B4-BE49-F238E27FC236}">
                <a16:creationId xmlns:a16="http://schemas.microsoft.com/office/drawing/2014/main" id="{65A03BE6-1FC2-4088-AD7A-E23A50CCCA4A}"/>
              </a:ext>
            </a:extLst>
          </p:cNvPr>
          <p:cNvPicPr>
            <a:picLocks noChangeAspect="1"/>
          </p:cNvPicPr>
          <p:nvPr/>
        </p:nvPicPr>
        <p:blipFill>
          <a:blip r:embed="rId2"/>
          <a:stretch>
            <a:fillRect/>
          </a:stretch>
        </p:blipFill>
        <p:spPr>
          <a:xfrm>
            <a:off x="1133474" y="4738970"/>
            <a:ext cx="7526923" cy="1302391"/>
          </a:xfrm>
          <a:prstGeom prst="rect">
            <a:avLst/>
          </a:prstGeom>
        </p:spPr>
      </p:pic>
    </p:spTree>
    <p:extLst>
      <p:ext uri="{BB962C8B-B14F-4D97-AF65-F5344CB8AC3E}">
        <p14:creationId xmlns:p14="http://schemas.microsoft.com/office/powerpoint/2010/main" val="498723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72820-62E4-41A7-9D42-F357E7A0282E}"/>
              </a:ext>
            </a:extLst>
          </p:cNvPr>
          <p:cNvSpPr>
            <a:spLocks noGrp="1"/>
          </p:cNvSpPr>
          <p:nvPr>
            <p:ph type="title"/>
          </p:nvPr>
        </p:nvSpPr>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Data modelling -overview</a:t>
            </a:r>
            <a:endParaRPr lang="en-IN" sz="2800" b="1" dirty="0">
              <a:solidFill>
                <a:schemeClr val="tx1"/>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F41B58A8-2747-425F-8079-3CA2EAFC1115}"/>
              </a:ext>
            </a:extLst>
          </p:cNvPr>
          <p:cNvPicPr>
            <a:picLocks noGrp="1" noChangeAspect="1"/>
          </p:cNvPicPr>
          <p:nvPr>
            <p:ph idx="1"/>
          </p:nvPr>
        </p:nvPicPr>
        <p:blipFill>
          <a:blip r:embed="rId2"/>
          <a:stretch>
            <a:fillRect/>
          </a:stretch>
        </p:blipFill>
        <p:spPr>
          <a:xfrm>
            <a:off x="1042988" y="1485036"/>
            <a:ext cx="8058150" cy="4556990"/>
          </a:xfrm>
        </p:spPr>
      </p:pic>
    </p:spTree>
    <p:extLst>
      <p:ext uri="{BB962C8B-B14F-4D97-AF65-F5344CB8AC3E}">
        <p14:creationId xmlns:p14="http://schemas.microsoft.com/office/powerpoint/2010/main" val="31042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2FBEB-ACA5-40AC-B4A3-055F7DD899FB}"/>
              </a:ext>
            </a:extLst>
          </p:cNvPr>
          <p:cNvSpPr>
            <a:spLocks noGrp="1"/>
          </p:cNvSpPr>
          <p:nvPr>
            <p:ph type="title"/>
          </p:nvPr>
        </p:nvSpPr>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Power bi dashboard overview</a:t>
            </a:r>
            <a:endParaRPr lang="en-IN" sz="2800" b="1" dirty="0">
              <a:solidFill>
                <a:schemeClr val="tx1"/>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FD9570C3-D5EF-4F79-89AE-E746263E6F1E}"/>
              </a:ext>
            </a:extLst>
          </p:cNvPr>
          <p:cNvPicPr>
            <a:picLocks noGrp="1" noChangeAspect="1"/>
          </p:cNvPicPr>
          <p:nvPr>
            <p:ph idx="1"/>
          </p:nvPr>
        </p:nvPicPr>
        <p:blipFill>
          <a:blip r:embed="rId2"/>
          <a:stretch>
            <a:fillRect/>
          </a:stretch>
        </p:blipFill>
        <p:spPr>
          <a:xfrm>
            <a:off x="895351" y="1329034"/>
            <a:ext cx="8378652" cy="4712992"/>
          </a:xfrm>
        </p:spPr>
      </p:pic>
    </p:spTree>
    <p:extLst>
      <p:ext uri="{BB962C8B-B14F-4D97-AF65-F5344CB8AC3E}">
        <p14:creationId xmlns:p14="http://schemas.microsoft.com/office/powerpoint/2010/main" val="1732164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FA46D-D931-4817-B568-BFC4C6741851}"/>
              </a:ext>
            </a:extLst>
          </p:cNvPr>
          <p:cNvSpPr>
            <a:spLocks noGrp="1"/>
          </p:cNvSpPr>
          <p:nvPr>
            <p:ph type="title"/>
          </p:nvPr>
        </p:nvSpPr>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Which Social Media Platform Generates High Engagement</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56D3EDFB-4022-40D3-A0C2-DB0612643FC2}"/>
              </a:ext>
            </a:extLst>
          </p:cNvPr>
          <p:cNvSpPr>
            <a:spLocks noGrp="1" noChangeArrowheads="1"/>
          </p:cNvSpPr>
          <p:nvPr>
            <p:ph idx="1"/>
          </p:nvPr>
        </p:nvSpPr>
        <p:spPr bwMode="auto">
          <a:xfrm>
            <a:off x="677333" y="1871241"/>
            <a:ext cx="840951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Analyzed engagement across different social media platforms</a:t>
            </a:r>
          </a:p>
          <a:p>
            <a:pPr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Engagement measured using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likes, comments, and shares</a:t>
            </a:r>
          </a:p>
          <a:p>
            <a:pPr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Calculated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engagement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each platform</a:t>
            </a:r>
          </a:p>
          <a:p>
            <a:pPr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performance of all platforms</a:t>
            </a:r>
          </a:p>
          <a:p>
            <a:pPr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Identified the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platform with highest user interaction</a:t>
            </a:r>
          </a:p>
          <a:p>
            <a:pPr defTabSz="914400" eaLnBrk="0" fontAlgn="base" hangingPunct="0">
              <a:spcBef>
                <a:spcPct val="0"/>
              </a:spcBef>
              <a:spcAft>
                <a:spcPct val="0"/>
              </a:spcAft>
              <a:buClrTx/>
              <a:buSzTx/>
              <a:buFont typeface="Wingdings" panose="05000000000000000000" pitchFamily="2" charset="2"/>
              <a:buChar char="Ø"/>
            </a:pPr>
            <a:r>
              <a:rPr lang="en-US" altLang="en-US" dirty="0">
                <a:solidFill>
                  <a:schemeClr val="tx1"/>
                </a:solidFill>
                <a:latin typeface="Times New Roman" panose="02020603050405020304" pitchFamily="18" charset="0"/>
                <a:cs typeface="Times New Roman" panose="02020603050405020304" pitchFamily="18" charset="0"/>
              </a:rPr>
              <a:t>X-axis : platform</a:t>
            </a:r>
          </a:p>
          <a:p>
            <a:pPr defTabSz="914400" eaLnBrk="0" fontAlgn="base" hangingPunct="0">
              <a:spcBef>
                <a:spcPct val="0"/>
              </a:spcBef>
              <a:spcAft>
                <a:spcPct val="0"/>
              </a:spcAft>
              <a:buClrTx/>
              <a:buSzTx/>
              <a:buFont typeface="Wingdings" panose="05000000000000000000" pitchFamily="2" charset="2"/>
              <a:buChar char="Ø"/>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Y-axis : </a:t>
            </a:r>
            <a:r>
              <a:rPr lang="en-US" altLang="en-US" dirty="0" err="1">
                <a:solidFill>
                  <a:schemeClr val="tx1"/>
                </a:solidFill>
                <a:latin typeface="Times New Roman" panose="02020603050405020304" pitchFamily="18" charset="0"/>
                <a:cs typeface="Times New Roman" panose="02020603050405020304" pitchFamily="18" charset="0"/>
              </a:rPr>
              <a:t>totengagemental</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5142C69-9526-48EE-92CF-9B1ADF629AB6}"/>
              </a:ext>
            </a:extLst>
          </p:cNvPr>
          <p:cNvPicPr>
            <a:picLocks noChangeAspect="1"/>
          </p:cNvPicPr>
          <p:nvPr/>
        </p:nvPicPr>
        <p:blipFill>
          <a:blip r:embed="rId2"/>
          <a:stretch>
            <a:fillRect/>
          </a:stretch>
        </p:blipFill>
        <p:spPr>
          <a:xfrm>
            <a:off x="891645" y="4206498"/>
            <a:ext cx="7980892" cy="1701389"/>
          </a:xfrm>
          <a:prstGeom prst="rect">
            <a:avLst/>
          </a:prstGeom>
        </p:spPr>
      </p:pic>
    </p:spTree>
    <p:extLst>
      <p:ext uri="{BB962C8B-B14F-4D97-AF65-F5344CB8AC3E}">
        <p14:creationId xmlns:p14="http://schemas.microsoft.com/office/powerpoint/2010/main" val="2189308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2BED6-6342-4221-87F3-57D0DABD27C9}"/>
              </a:ext>
            </a:extLst>
          </p:cNvPr>
          <p:cNvSpPr>
            <a:spLocks noGrp="1"/>
          </p:cNvSpPr>
          <p:nvPr>
            <p:ph type="title"/>
          </p:nvPr>
        </p:nvSpPr>
        <p:spPr/>
        <p:txBody>
          <a:bodyPr>
            <a:normAutofit/>
          </a:bodyPr>
          <a:lstStyle/>
          <a:p>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Which Post Has the Highest Engagement post</a:t>
            </a:r>
            <a:endParaRPr lang="en-IN"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5FAD95E2-53AD-4C14-A371-6E8F0BF1CF64}"/>
              </a:ext>
            </a:extLst>
          </p:cNvPr>
          <p:cNvSpPr>
            <a:spLocks noGrp="1" noChangeArrowheads="1"/>
          </p:cNvSpPr>
          <p:nvPr>
            <p:ph idx="1"/>
          </p:nvPr>
        </p:nvSpPr>
        <p:spPr bwMode="auto">
          <a:xfrm>
            <a:off x="923925" y="1420378"/>
            <a:ext cx="7543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Analyzed engagement across different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 types</a:t>
            </a:r>
          </a:p>
          <a:p>
            <a:pPr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Engagement measured using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likes, comments, and shares</a:t>
            </a:r>
          </a:p>
          <a:p>
            <a:pPr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Calculated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engagement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each post type</a:t>
            </a:r>
          </a:p>
          <a:p>
            <a:pPr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performance of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video, and text posts</a:t>
            </a:r>
          </a:p>
          <a:p>
            <a:pPr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Identified the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 type with highest engagement</a:t>
            </a:r>
          </a:p>
          <a:p>
            <a:pPr defTabSz="914400" eaLnBrk="0" fontAlgn="base" hangingPunct="0">
              <a:spcBef>
                <a:spcPct val="0"/>
              </a:spcBef>
              <a:spcAft>
                <a:spcPct val="0"/>
              </a:spcAft>
              <a:buClrTx/>
              <a:buSzTx/>
              <a:buFont typeface="Wingdings" panose="05000000000000000000" pitchFamily="2" charset="2"/>
              <a:buChar char="Ø"/>
            </a:pPr>
            <a:r>
              <a:rPr lang="en-US" altLang="en-US" dirty="0">
                <a:solidFill>
                  <a:schemeClr val="tx1"/>
                </a:solidFill>
                <a:latin typeface="Times New Roman" panose="02020603050405020304" pitchFamily="18" charset="0"/>
                <a:cs typeface="Times New Roman" panose="02020603050405020304" pitchFamily="18" charset="0"/>
              </a:rPr>
              <a:t>X-axis : post</a:t>
            </a:r>
          </a:p>
          <a:p>
            <a:pPr defTabSz="914400" eaLnBrk="0" fontAlgn="base" hangingPunct="0">
              <a:spcBef>
                <a:spcPct val="0"/>
              </a:spcBef>
              <a:spcAft>
                <a:spcPct val="0"/>
              </a:spcAft>
              <a:buClrTx/>
              <a:buSzTx/>
              <a:buFont typeface="Wingdings" panose="05000000000000000000" pitchFamily="2" charset="2"/>
              <a:buChar char="Ø"/>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Y-axis : total engagement</a:t>
            </a:r>
          </a:p>
          <a:p>
            <a:pPr marL="0" indent="0" defTabSz="914400" eaLnBrk="0" fontAlgn="base" hangingPunct="0">
              <a:spcBef>
                <a:spcPct val="0"/>
              </a:spcBef>
              <a:spcAft>
                <a:spcPct val="0"/>
              </a:spcAft>
              <a:buClrTx/>
              <a:buSzTx/>
              <a:buNone/>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84484C2-5537-4C90-ABB3-4054F76B553A}"/>
              </a:ext>
            </a:extLst>
          </p:cNvPr>
          <p:cNvPicPr>
            <a:picLocks noChangeAspect="1"/>
          </p:cNvPicPr>
          <p:nvPr/>
        </p:nvPicPr>
        <p:blipFill>
          <a:blip r:embed="rId2"/>
          <a:stretch>
            <a:fillRect/>
          </a:stretch>
        </p:blipFill>
        <p:spPr>
          <a:xfrm>
            <a:off x="1334559" y="4044747"/>
            <a:ext cx="7709429" cy="2613228"/>
          </a:xfrm>
          <a:prstGeom prst="rect">
            <a:avLst/>
          </a:prstGeom>
        </p:spPr>
      </p:pic>
    </p:spTree>
    <p:extLst>
      <p:ext uri="{BB962C8B-B14F-4D97-AF65-F5344CB8AC3E}">
        <p14:creationId xmlns:p14="http://schemas.microsoft.com/office/powerpoint/2010/main" val="1155476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5BEBB-FA8D-4E76-9651-B6C94879BD26}"/>
              </a:ext>
            </a:extLst>
          </p:cNvPr>
          <p:cNvSpPr>
            <a:spLocks noGrp="1"/>
          </p:cNvSpPr>
          <p:nvPr>
            <p:ph type="title"/>
          </p:nvPr>
        </p:nvSpPr>
        <p:spPr/>
        <p:txBody>
          <a:bodyPr>
            <a:normAutofit/>
          </a:bodyPr>
          <a:lstStyle/>
          <a:p>
            <a:r>
              <a:rPr lang="en-US" sz="2800" dirty="0">
                <a:solidFill>
                  <a:schemeClr val="tx1"/>
                </a:solidFill>
                <a:latin typeface="Times New Roman" panose="02020603050405020304" pitchFamily="18" charset="0"/>
                <a:cs typeface="Times New Roman" panose="02020603050405020304" pitchFamily="18" charset="0"/>
              </a:rPr>
              <a:t>Engagement Change Over Time</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E52C27D-44A6-4E05-B248-620FB6780F7F}"/>
              </a:ext>
            </a:extLst>
          </p:cNvPr>
          <p:cNvSpPr>
            <a:spLocks noGrp="1"/>
          </p:cNvSpPr>
          <p:nvPr>
            <p:ph idx="1"/>
          </p:nvPr>
        </p:nvSpPr>
        <p:spPr/>
        <p:txBody>
          <a:bodyPr/>
          <a:lstStyle/>
          <a:p>
            <a:pPr>
              <a:buClr>
                <a:schemeClr val="tx1"/>
              </a:buClr>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Analyzed Engagement over Time using date</a:t>
            </a:r>
          </a:p>
          <a:p>
            <a:pPr>
              <a:buClr>
                <a:schemeClr val="tx1"/>
              </a:buClr>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Engagement measured using likes, comments, And Shares</a:t>
            </a:r>
          </a:p>
          <a:p>
            <a:pPr>
              <a:buClr>
                <a:schemeClr val="tx1"/>
              </a:buClr>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Help in optimizing content </a:t>
            </a:r>
            <a:r>
              <a:rPr lang="en-US" dirty="0" err="1">
                <a:solidFill>
                  <a:schemeClr val="tx1">
                    <a:lumMod val="95000"/>
                    <a:lumOff val="5000"/>
                  </a:schemeClr>
                </a:solidFill>
                <a:latin typeface="Times New Roman" panose="02020603050405020304" pitchFamily="18" charset="0"/>
                <a:cs typeface="Times New Roman" panose="02020603050405020304" pitchFamily="18" charset="0"/>
              </a:rPr>
              <a:t>postin</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Schedule </a:t>
            </a:r>
          </a:p>
          <a:p>
            <a:pPr>
              <a:buClr>
                <a:schemeClr val="tx1"/>
              </a:buClr>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X-axis : Date</a:t>
            </a:r>
          </a:p>
          <a:p>
            <a:pPr>
              <a:buClr>
                <a:schemeClr val="tx1"/>
              </a:buClr>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Y-axis : total engagement</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797A12F-DD72-46C7-AAE6-F5B2A18011F3}"/>
              </a:ext>
            </a:extLst>
          </p:cNvPr>
          <p:cNvPicPr>
            <a:picLocks noChangeAspect="1"/>
          </p:cNvPicPr>
          <p:nvPr/>
        </p:nvPicPr>
        <p:blipFill>
          <a:blip r:embed="rId2"/>
          <a:stretch>
            <a:fillRect/>
          </a:stretch>
        </p:blipFill>
        <p:spPr>
          <a:xfrm>
            <a:off x="7158038" y="1830387"/>
            <a:ext cx="2363085" cy="4316473"/>
          </a:xfrm>
          <a:prstGeom prst="rect">
            <a:avLst/>
          </a:prstGeom>
        </p:spPr>
      </p:pic>
    </p:spTree>
    <p:extLst>
      <p:ext uri="{BB962C8B-B14F-4D97-AF65-F5344CB8AC3E}">
        <p14:creationId xmlns:p14="http://schemas.microsoft.com/office/powerpoint/2010/main" val="2623414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DD02-121A-49E1-855B-EE1058B8D4CD}"/>
              </a:ext>
            </a:extLst>
          </p:cNvPr>
          <p:cNvSpPr>
            <a:spLocks noGrp="1"/>
          </p:cNvSpPr>
          <p:nvPr>
            <p:ph type="title"/>
          </p:nvPr>
        </p:nvSpPr>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Which age have </a:t>
            </a:r>
            <a:r>
              <a:rPr lang="en-US" sz="2800" b="1" dirty="0" err="1">
                <a:solidFill>
                  <a:schemeClr val="tx1"/>
                </a:solidFill>
                <a:latin typeface="Times New Roman" panose="02020603050405020304" pitchFamily="18" charset="0"/>
                <a:cs typeface="Times New Roman" panose="02020603050405020304" pitchFamily="18" charset="0"/>
              </a:rPr>
              <a:t>hightest</a:t>
            </a:r>
            <a:r>
              <a:rPr lang="en-US" sz="2800" b="1" dirty="0">
                <a:solidFill>
                  <a:schemeClr val="tx1"/>
                </a:solidFill>
                <a:latin typeface="Times New Roman" panose="02020603050405020304" pitchFamily="18" charset="0"/>
                <a:cs typeface="Times New Roman" panose="02020603050405020304" pitchFamily="18" charset="0"/>
              </a:rPr>
              <a:t> engagement</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49DBD3B-6C2D-4E90-B34F-6EBDB37592C4}"/>
              </a:ext>
            </a:extLst>
          </p:cNvPr>
          <p:cNvSpPr>
            <a:spLocks noGrp="1" noChangeArrowheads="1"/>
          </p:cNvSpPr>
          <p:nvPr>
            <p:ph idx="1"/>
          </p:nvPr>
        </p:nvSpPr>
        <p:spPr bwMode="auto">
          <a:xfrm>
            <a:off x="677334" y="1299550"/>
            <a:ext cx="609494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Analyzed engagement across different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age groups</a:t>
            </a:r>
          </a:p>
          <a:p>
            <a:pPr lvl="0" defTabSz="914400" eaLnBrk="0" fontAlgn="base" hangingPunct="0">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Engagement measured using</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US" altLang="en-US" b="1"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likes, comments</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shares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Calculated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engagement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each age group</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interaction levels between all age categories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solidFill>
                  <a:schemeClr val="tx1"/>
                </a:solidFill>
                <a:latin typeface="Times New Roman" panose="02020603050405020304" pitchFamily="18" charset="0"/>
                <a:cs typeface="Times New Roman" panose="02020603050405020304" pitchFamily="18" charset="0"/>
              </a:rPr>
              <a:t>X-axis : total engagement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Y-axis : age group</a:t>
            </a:r>
          </a:p>
        </p:txBody>
      </p:sp>
      <p:pic>
        <p:nvPicPr>
          <p:cNvPr id="6" name="Picture 5">
            <a:extLst>
              <a:ext uri="{FF2B5EF4-FFF2-40B4-BE49-F238E27FC236}">
                <a16:creationId xmlns:a16="http://schemas.microsoft.com/office/drawing/2014/main" id="{62BBBCD6-5AEE-44A3-B3A8-D2AF10C266D0}"/>
              </a:ext>
            </a:extLst>
          </p:cNvPr>
          <p:cNvPicPr>
            <a:picLocks noChangeAspect="1"/>
          </p:cNvPicPr>
          <p:nvPr/>
        </p:nvPicPr>
        <p:blipFill>
          <a:blip r:embed="rId2"/>
          <a:stretch>
            <a:fillRect/>
          </a:stretch>
        </p:blipFill>
        <p:spPr>
          <a:xfrm>
            <a:off x="931976" y="3543300"/>
            <a:ext cx="6423153" cy="2543176"/>
          </a:xfrm>
          <a:prstGeom prst="rect">
            <a:avLst/>
          </a:prstGeom>
        </p:spPr>
      </p:pic>
    </p:spTree>
    <p:extLst>
      <p:ext uri="{BB962C8B-B14F-4D97-AF65-F5344CB8AC3E}">
        <p14:creationId xmlns:p14="http://schemas.microsoft.com/office/powerpoint/2010/main" val="716837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7A15A-F691-4346-BFFE-F005C783185A}"/>
              </a:ext>
            </a:extLst>
          </p:cNvPr>
          <p:cNvSpPr>
            <a:spLocks noGrp="1"/>
          </p:cNvSpPr>
          <p:nvPr>
            <p:ph type="title"/>
          </p:nvPr>
        </p:nvSpPr>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Which Gender Uses Social Media the Most</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B3673F-5DA9-46BD-AD82-9F71BF043F98}"/>
              </a:ext>
            </a:extLst>
          </p:cNvPr>
          <p:cNvSpPr>
            <a:spLocks noGrp="1"/>
          </p:cNvSpPr>
          <p:nvPr>
            <p:ph idx="1"/>
          </p:nvPr>
        </p:nvSpPr>
        <p:spPr>
          <a:xfrm>
            <a:off x="677334" y="1438275"/>
            <a:ext cx="8596668" cy="4603087"/>
          </a:xfrm>
        </p:spPr>
        <p:txBody>
          <a:bodyPr/>
          <a:lstStyle/>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Analyzed social media usage across different genders</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Calculate total interaction for each gender</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Identified which gender is more active on social media </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Help understand audience participation</a:t>
            </a:r>
          </a:p>
          <a:p>
            <a:pPr>
              <a:buClr>
                <a:schemeClr val="tx1"/>
              </a:buClr>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Legens</a:t>
            </a:r>
            <a:r>
              <a:rPr lang="en-US" dirty="0">
                <a:latin typeface="Times New Roman" panose="02020603050405020304" pitchFamily="18" charset="0"/>
                <a:cs typeface="Times New Roman" panose="02020603050405020304" pitchFamily="18" charset="0"/>
              </a:rPr>
              <a:t> : Audience Gender</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Values : total engagement</a:t>
            </a:r>
          </a:p>
          <a:p>
            <a:endParaRPr lang="en-US" dirty="0">
              <a:latin typeface="Times New Roman" panose="02020603050405020304" pitchFamily="18" charset="0"/>
              <a:cs typeface="Times New Roman" panose="02020603050405020304" pitchFamily="18" charset="0"/>
            </a:endParaRPr>
          </a:p>
          <a:p>
            <a:endParaRPr lang="en-IN" dirty="0"/>
          </a:p>
        </p:txBody>
      </p:sp>
      <p:pic>
        <p:nvPicPr>
          <p:cNvPr id="14" name="Picture 13">
            <a:extLst>
              <a:ext uri="{FF2B5EF4-FFF2-40B4-BE49-F238E27FC236}">
                <a16:creationId xmlns:a16="http://schemas.microsoft.com/office/drawing/2014/main" id="{39ADF4B2-982E-49AC-B5D8-213BE1EB34D1}"/>
              </a:ext>
            </a:extLst>
          </p:cNvPr>
          <p:cNvPicPr>
            <a:picLocks noChangeAspect="1"/>
          </p:cNvPicPr>
          <p:nvPr/>
        </p:nvPicPr>
        <p:blipFill>
          <a:blip r:embed="rId2"/>
          <a:stretch>
            <a:fillRect/>
          </a:stretch>
        </p:blipFill>
        <p:spPr>
          <a:xfrm>
            <a:off x="914400" y="4062725"/>
            <a:ext cx="5648325" cy="2713999"/>
          </a:xfrm>
          <a:prstGeom prst="rect">
            <a:avLst/>
          </a:prstGeom>
        </p:spPr>
      </p:pic>
    </p:spTree>
    <p:extLst>
      <p:ext uri="{BB962C8B-B14F-4D97-AF65-F5344CB8AC3E}">
        <p14:creationId xmlns:p14="http://schemas.microsoft.com/office/powerpoint/2010/main" val="823744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25F62-8533-45F8-AE70-3D3EF07B7EDF}"/>
              </a:ext>
            </a:extLst>
          </p:cNvPr>
          <p:cNvSpPr>
            <a:spLocks noGrp="1"/>
          </p:cNvSpPr>
          <p:nvPr>
            <p:ph type="title"/>
          </p:nvPr>
        </p:nvSpPr>
        <p:spPr/>
        <p:txBody>
          <a:bodyPr>
            <a:normAutofit/>
          </a:bodyPr>
          <a:lstStyle/>
          <a:p>
            <a:r>
              <a:rPr lang="fr-FR" sz="2800" b="1" dirty="0" err="1">
                <a:solidFill>
                  <a:schemeClr val="tx1"/>
                </a:solidFill>
                <a:latin typeface="Times New Roman" panose="02020603050405020304" pitchFamily="18" charset="0"/>
                <a:cs typeface="Times New Roman" panose="02020603050405020304" pitchFamily="18" charset="0"/>
              </a:rPr>
              <a:t>Does</a:t>
            </a:r>
            <a:r>
              <a:rPr lang="fr-FR" sz="2800" b="1" dirty="0">
                <a:solidFill>
                  <a:schemeClr val="tx1"/>
                </a:solidFill>
                <a:latin typeface="Times New Roman" panose="02020603050405020304" pitchFamily="18" charset="0"/>
                <a:cs typeface="Times New Roman" panose="02020603050405020304" pitchFamily="18" charset="0"/>
              </a:rPr>
              <a:t> Sentiment Affect Post Engagement</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01BF3D-4584-41C6-8DCE-D08C864E3034}"/>
              </a:ext>
            </a:extLst>
          </p:cNvPr>
          <p:cNvSpPr>
            <a:spLocks noGrp="1"/>
          </p:cNvSpPr>
          <p:nvPr>
            <p:ph idx="1"/>
          </p:nvPr>
        </p:nvSpPr>
        <p:spPr>
          <a:xfrm>
            <a:off x="771524" y="1447801"/>
            <a:ext cx="8502477" cy="4593562"/>
          </a:xfrm>
        </p:spPr>
        <p:txBody>
          <a:bodyPr/>
          <a:lstStyle/>
          <a:p>
            <a:pPr>
              <a:buClr>
                <a:schemeClr val="tx1">
                  <a:lumMod val="95000"/>
                  <a:lumOff val="5000"/>
                </a:schemeClr>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Analyzed posts based on sentiment (positive ,</a:t>
            </a:r>
            <a:r>
              <a:rPr lang="en-US" dirty="0" err="1">
                <a:latin typeface="Times New Roman" panose="02020603050405020304" pitchFamily="18" charset="0"/>
                <a:cs typeface="Times New Roman" panose="02020603050405020304" pitchFamily="18" charset="0"/>
              </a:rPr>
              <a:t>netural,negative</a:t>
            </a:r>
            <a:r>
              <a:rPr lang="en-US" dirty="0">
                <a:latin typeface="Times New Roman" panose="02020603050405020304" pitchFamily="18" charset="0"/>
                <a:cs typeface="Times New Roman" panose="02020603050405020304" pitchFamily="18" charset="0"/>
              </a:rPr>
              <a:t>)</a:t>
            </a:r>
          </a:p>
          <a:p>
            <a:pPr>
              <a:buClr>
                <a:schemeClr val="tx1">
                  <a:lumMod val="95000"/>
                  <a:lumOff val="5000"/>
                </a:schemeClr>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Measured engagement using like ,commends and shares</a:t>
            </a:r>
          </a:p>
          <a:p>
            <a:pPr>
              <a:buClr>
                <a:schemeClr val="tx1">
                  <a:lumMod val="95000"/>
                  <a:lumOff val="5000"/>
                </a:schemeClr>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Identified which sentiment drives higher interaction </a:t>
            </a:r>
          </a:p>
          <a:p>
            <a:pPr>
              <a:buClr>
                <a:schemeClr val="tx1">
                  <a:lumMod val="95000"/>
                  <a:lumOff val="5000"/>
                </a:schemeClr>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Legend : Sentiment</a:t>
            </a:r>
          </a:p>
          <a:p>
            <a:pPr>
              <a:buClr>
                <a:schemeClr val="tx1">
                  <a:lumMod val="95000"/>
                  <a:lumOff val="5000"/>
                </a:schemeClr>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Values : Total Engagement</a:t>
            </a:r>
          </a:p>
          <a:p>
            <a:endParaRPr lang="en-IN" dirty="0"/>
          </a:p>
        </p:txBody>
      </p:sp>
      <p:pic>
        <p:nvPicPr>
          <p:cNvPr id="5" name="Picture 4">
            <a:extLst>
              <a:ext uri="{FF2B5EF4-FFF2-40B4-BE49-F238E27FC236}">
                <a16:creationId xmlns:a16="http://schemas.microsoft.com/office/drawing/2014/main" id="{458A8DDF-B149-4494-9CC0-65C928AB7A39}"/>
              </a:ext>
            </a:extLst>
          </p:cNvPr>
          <p:cNvPicPr>
            <a:picLocks noChangeAspect="1"/>
          </p:cNvPicPr>
          <p:nvPr/>
        </p:nvPicPr>
        <p:blipFill>
          <a:blip r:embed="rId2"/>
          <a:stretch>
            <a:fillRect/>
          </a:stretch>
        </p:blipFill>
        <p:spPr>
          <a:xfrm>
            <a:off x="866775" y="3871650"/>
            <a:ext cx="4848225" cy="2482163"/>
          </a:xfrm>
          <a:prstGeom prst="rect">
            <a:avLst/>
          </a:prstGeom>
        </p:spPr>
      </p:pic>
    </p:spTree>
    <p:extLst>
      <p:ext uri="{BB962C8B-B14F-4D97-AF65-F5344CB8AC3E}">
        <p14:creationId xmlns:p14="http://schemas.microsoft.com/office/powerpoint/2010/main" val="3748268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1023E-2307-42F5-92C8-EDCC82125117}"/>
              </a:ext>
            </a:extLst>
          </p:cNvPr>
          <p:cNvSpPr>
            <a:spLocks noGrp="1"/>
          </p:cNvSpPr>
          <p:nvPr>
            <p:ph type="title"/>
          </p:nvPr>
        </p:nvSpPr>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Which Age Group Uses Which Platform Mostly</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73F99B-0AF9-4E72-BFF9-1E035E01F345}"/>
              </a:ext>
            </a:extLst>
          </p:cNvPr>
          <p:cNvSpPr>
            <a:spLocks noGrp="1"/>
          </p:cNvSpPr>
          <p:nvPr>
            <p:ph idx="1"/>
          </p:nvPr>
        </p:nvSpPr>
        <p:spPr>
          <a:xfrm>
            <a:off x="677334" y="1409701"/>
            <a:ext cx="8596668" cy="4631662"/>
          </a:xfrm>
        </p:spPr>
        <p:txBody>
          <a:bodyPr/>
          <a:lstStyle/>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Analyzed usage across age groups and social media platforms</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Compared engagement using </a:t>
            </a:r>
            <a:r>
              <a:rPr lang="en-US" dirty="0" err="1">
                <a:latin typeface="Times New Roman" panose="02020603050405020304" pitchFamily="18" charset="0"/>
                <a:cs typeface="Times New Roman" panose="02020603050405020304" pitchFamily="18" charset="0"/>
              </a:rPr>
              <a:t>likes,comment</a:t>
            </a:r>
            <a:r>
              <a:rPr lang="en-US" dirty="0">
                <a:latin typeface="Times New Roman" panose="02020603050405020304" pitchFamily="18" charset="0"/>
                <a:cs typeface="Times New Roman" panose="02020603050405020304" pitchFamily="18" charset="0"/>
              </a:rPr>
              <a:t> and shares</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Identified which age group prefers while platform</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X-</a:t>
            </a:r>
            <a:r>
              <a:rPr lang="en-US" dirty="0" err="1">
                <a:latin typeface="Times New Roman" panose="02020603050405020304" pitchFamily="18" charset="0"/>
                <a:cs typeface="Times New Roman" panose="02020603050405020304" pitchFamily="18" charset="0"/>
              </a:rPr>
              <a:t>ais</a:t>
            </a:r>
            <a:r>
              <a:rPr lang="en-US" dirty="0">
                <a:latin typeface="Times New Roman" panose="02020603050405020304" pitchFamily="18" charset="0"/>
                <a:cs typeface="Times New Roman" panose="02020603050405020304" pitchFamily="18" charset="0"/>
              </a:rPr>
              <a:t> : platform</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Y=</a:t>
            </a:r>
            <a:r>
              <a:rPr lang="en-US" dirty="0" err="1">
                <a:latin typeface="Times New Roman" panose="02020603050405020304" pitchFamily="18" charset="0"/>
                <a:cs typeface="Times New Roman" panose="02020603050405020304" pitchFamily="18" charset="0"/>
              </a:rPr>
              <a:t>ais</a:t>
            </a:r>
            <a:r>
              <a:rPr lang="en-US" dirty="0">
                <a:latin typeface="Times New Roman" panose="02020603050405020304" pitchFamily="18" charset="0"/>
                <a:cs typeface="Times New Roman" panose="02020603050405020304" pitchFamily="18" charset="0"/>
              </a:rPr>
              <a:t> : post</a:t>
            </a:r>
          </a:p>
          <a:p>
            <a:pPr>
              <a:buClr>
                <a:schemeClr val="tx1"/>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Legend : Age group</a:t>
            </a:r>
          </a:p>
          <a:p>
            <a:endParaRPr lang="en-US" dirty="0"/>
          </a:p>
          <a:p>
            <a:endParaRPr lang="en-US" dirty="0"/>
          </a:p>
          <a:p>
            <a:endParaRPr lang="en-US" dirty="0"/>
          </a:p>
          <a:p>
            <a:endParaRPr lang="en-IN" dirty="0"/>
          </a:p>
        </p:txBody>
      </p:sp>
      <p:pic>
        <p:nvPicPr>
          <p:cNvPr id="5" name="Picture 4">
            <a:extLst>
              <a:ext uri="{FF2B5EF4-FFF2-40B4-BE49-F238E27FC236}">
                <a16:creationId xmlns:a16="http://schemas.microsoft.com/office/drawing/2014/main" id="{9EC7253E-8318-4DD9-8A34-B671DB4CE3C0}"/>
              </a:ext>
            </a:extLst>
          </p:cNvPr>
          <p:cNvPicPr>
            <a:picLocks noChangeAspect="1"/>
          </p:cNvPicPr>
          <p:nvPr/>
        </p:nvPicPr>
        <p:blipFill>
          <a:blip r:embed="rId2"/>
          <a:stretch>
            <a:fillRect/>
          </a:stretch>
        </p:blipFill>
        <p:spPr>
          <a:xfrm>
            <a:off x="1152524" y="3939426"/>
            <a:ext cx="6143625" cy="2101937"/>
          </a:xfrm>
          <a:prstGeom prst="rect">
            <a:avLst/>
          </a:prstGeom>
        </p:spPr>
      </p:pic>
    </p:spTree>
    <p:extLst>
      <p:ext uri="{BB962C8B-B14F-4D97-AF65-F5344CB8AC3E}">
        <p14:creationId xmlns:p14="http://schemas.microsoft.com/office/powerpoint/2010/main" val="110291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4EE4B-FFAA-4504-BB03-574EDB91DE4B}"/>
              </a:ext>
            </a:extLst>
          </p:cNvPr>
          <p:cNvSpPr>
            <a:spLocks noGrp="1"/>
          </p:cNvSpPr>
          <p:nvPr>
            <p:ph type="title"/>
          </p:nvPr>
        </p:nvSpPr>
        <p:spPr/>
        <p:txBody>
          <a:bodyPr/>
          <a:lstStyle/>
          <a:p>
            <a:r>
              <a:rPr lang="en-IN" sz="2800" b="1" dirty="0">
                <a:solidFill>
                  <a:schemeClr val="tx1"/>
                </a:solidFill>
                <a:latin typeface="Times New Roman" panose="02020603050405020304" pitchFamily="18" charset="0"/>
                <a:cs typeface="Times New Roman" panose="02020603050405020304" pitchFamily="18" charset="0"/>
              </a:rPr>
              <a:t>Conclusion</a:t>
            </a:r>
            <a:br>
              <a:rPr lang="en-IN" b="1" dirty="0"/>
            </a:br>
            <a:endParaRPr lang="en-IN" dirty="0"/>
          </a:p>
        </p:txBody>
      </p:sp>
      <p:sp>
        <p:nvSpPr>
          <p:cNvPr id="3" name="Content Placeholder 2">
            <a:extLst>
              <a:ext uri="{FF2B5EF4-FFF2-40B4-BE49-F238E27FC236}">
                <a16:creationId xmlns:a16="http://schemas.microsoft.com/office/drawing/2014/main" id="{9BC073F8-0660-46C0-964D-810CDDD68C6C}"/>
              </a:ext>
            </a:extLst>
          </p:cNvPr>
          <p:cNvSpPr>
            <a:spLocks noGrp="1"/>
          </p:cNvSpPr>
          <p:nvPr>
            <p:ph idx="1"/>
          </p:nvPr>
        </p:nvSpPr>
        <p:spPr>
          <a:xfrm>
            <a:off x="677334" y="1357313"/>
            <a:ext cx="8409516" cy="4684050"/>
          </a:xfrm>
        </p:spPr>
        <p:txBody>
          <a:bodyPr/>
          <a:lstStyle/>
          <a:p>
            <a:pPr>
              <a:buClr>
                <a:schemeClr val="tx1"/>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Social Media Engagement Dashboard provides a comprehensive overview of social media performance by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key engagement metrics and audience demographics. By visualizing data through interactive charts and graphs, the dashboard helps identify high-performing platforms, effective content types, and active audience segments. </a:t>
            </a:r>
          </a:p>
          <a:p>
            <a:pPr>
              <a:buClr>
                <a:schemeClr val="tx1"/>
              </a:buCl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These insights enable businesses and marketers to improve their social media strategies, optimize campaign performance, and make informed decisions based on data. Ultimately, the dashboard serves as a powerful tool for transforming complex social media data into actionable insights</a:t>
            </a:r>
            <a:r>
              <a:rPr lang="en-IN" dirty="0"/>
              <a:t>.</a:t>
            </a:r>
          </a:p>
          <a:p>
            <a:endParaRPr lang="en-IN" dirty="0"/>
          </a:p>
        </p:txBody>
      </p:sp>
    </p:spTree>
    <p:extLst>
      <p:ext uri="{BB962C8B-B14F-4D97-AF65-F5344CB8AC3E}">
        <p14:creationId xmlns:p14="http://schemas.microsoft.com/office/powerpoint/2010/main" val="3639934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5302B-7CFB-4C60-9D50-77837A3B8D9A}"/>
              </a:ext>
            </a:extLst>
          </p:cNvPr>
          <p:cNvSpPr>
            <a:spLocks noGrp="1"/>
          </p:cNvSpPr>
          <p:nvPr>
            <p:ph type="title"/>
          </p:nvPr>
        </p:nvSpPr>
        <p:spPr>
          <a:xfrm>
            <a:off x="2914650" y="2409825"/>
            <a:ext cx="5324475" cy="1371600"/>
          </a:xfrm>
        </p:spPr>
        <p:txBody>
          <a:bodyPr>
            <a:normAutofit/>
          </a:bodyPr>
          <a:lstStyle/>
          <a:p>
            <a:pPr algn="ctr"/>
            <a:r>
              <a:rPr lang="en-US" sz="4800" b="1" dirty="0">
                <a:latin typeface="Times New Roman" panose="02020603050405020304" pitchFamily="18" charset="0"/>
                <a:cs typeface="Times New Roman" panose="02020603050405020304" pitchFamily="18" charset="0"/>
              </a:rPr>
              <a:t>Thank you</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549520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377</TotalTime>
  <Words>932</Words>
  <Application>Microsoft Office PowerPoint</Application>
  <PresentationFormat>Widescreen</PresentationFormat>
  <Paragraphs>120</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Times New Roman</vt:lpstr>
      <vt:lpstr>Trebuchet MS</vt:lpstr>
      <vt:lpstr>Wingdings</vt:lpstr>
      <vt:lpstr>Wingdings 3</vt:lpstr>
      <vt:lpstr>Facet</vt:lpstr>
      <vt:lpstr>Social Media Engagement Analysis Dashbord</vt:lpstr>
      <vt:lpstr>Introduction</vt:lpstr>
      <vt:lpstr>Problem Statement</vt:lpstr>
      <vt:lpstr>Business problem </vt:lpstr>
      <vt:lpstr>Data overview</vt:lpstr>
      <vt:lpstr>Technology Used </vt:lpstr>
      <vt:lpstr>Key Matrics and KPI’s</vt:lpstr>
      <vt:lpstr>Data modelling -overview</vt:lpstr>
      <vt:lpstr>Power bi dashboard overview</vt:lpstr>
      <vt:lpstr>Which Social Media Platform Generates High Engagement</vt:lpstr>
      <vt:lpstr>Which Post Has the Highest Engagement post</vt:lpstr>
      <vt:lpstr>Engagement Change Over Time</vt:lpstr>
      <vt:lpstr>Which age have hightest engagement</vt:lpstr>
      <vt:lpstr>Which Gender Uses Social Media the Most</vt:lpstr>
      <vt:lpstr>Does Sentiment Affect Post Engagement</vt:lpstr>
      <vt:lpstr>Which Age Group Uses Which Platform Mostly</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Anudip1</dc:creator>
  <cp:lastModifiedBy>Anudip1</cp:lastModifiedBy>
  <cp:revision>28</cp:revision>
  <dcterms:created xsi:type="dcterms:W3CDTF">2026-03-18T05:02:31Z</dcterms:created>
  <dcterms:modified xsi:type="dcterms:W3CDTF">2026-03-19T06:48:13Z</dcterms:modified>
</cp:coreProperties>
</file>